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3756"/>
                </a:solidFill>
              </a:defRPr>
            </a:pPr>
            <a:r>
              <a:t>赛道三｜TMC1小分子候选调节剂筛选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52120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第二轮终局汇报草稿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科学问题：固定预算下，AI辅助排序能否提高计算候选优先级？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所有结果均标注证据类型；未把预测写成实测。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3756"/>
                </a:solidFill>
              </a:defRPr>
            </a:pPr>
            <a:r>
              <a:t>1. 研究对象与证据边界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52120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TMC1：机械转导复合体相关离子通道</a:t>
            </a:r>
          </a:p>
          <a:p>
            <a:r>
              <a:t>结构来源：线虫 7USW/7USX/7USY 公开实验结构模板 + 小鼠 M_PUB_ALL 计算模型 + 人源 AlphaFold 交叉验证</a:t>
            </a:r>
          </a:p>
          <a:p>
            <a:r>
              <a:t>输出目标：候选优先级与实验接入清单</a:t>
            </a:r>
          </a:p>
          <a:p>
            <a:r>
              <a:t>静态对接不能直接证明结合、激活、抑制或选择性</a:t>
            </a:r>
          </a:p>
        </p:txBody>
      </p:sp>
      <p:pic>
        <p:nvPicPr>
          <p:cNvPr id="4" name="Picture 3" descr="F6_六链结构与双区域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143000"/>
            <a:ext cx="5806440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3756"/>
                </a:solidFill>
              </a:defRPr>
            </a:pPr>
            <a:r>
              <a:t>2. 数据池与筛选入口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52120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23,475条来源记录 → 21,356个独立母体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17,645个性质合格；16,698个进入前向池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9,098个满足对接适用域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每个候选保留来源、结构状态和失败记录</a:t>
            </a:r>
          </a:p>
        </p:txBody>
      </p:sp>
      <p:pic>
        <p:nvPicPr>
          <p:cNvPr id="4" name="Picture 3" descr="F1_正式公共库分母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143000"/>
            <a:ext cx="5806440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3756"/>
                </a:solidFill>
              </a:defRPr>
            </a:pPr>
            <a:r>
              <a:t>3. 统一计算设计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52120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随机、描述符Ridge、主动AI三臂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每臂固定120次尝试，共319个去重物理作业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阈值：−8.0796 kcal/mol；结构代理：孔道中区4 Å接触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AI用于候选排序与预算分配，不等于直接药效预测</a:t>
            </a:r>
          </a:p>
        </p:txBody>
      </p:sp>
      <p:pic>
        <p:nvPicPr>
          <p:cNvPr id="4" name="Picture 3" descr="F8_正式前瞻三臂固定预算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143000"/>
            <a:ext cx="5806440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3756"/>
                </a:solidFill>
              </a:defRPr>
            </a:pPr>
            <a:r>
              <a:t>4. 历史回放告诉我们的边界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52120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五切分固定预算回放用于检验排序稳定性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AI未稳定超过Ridge，不能外推普遍泛化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正式三臂分布存在分子量和分层差异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因此结果解释限定在本数据集和本协议</a:t>
            </a:r>
          </a:p>
        </p:txBody>
      </p:sp>
      <p:pic>
        <p:nvPicPr>
          <p:cNvPr id="4" name="Picture 3" descr="F2_五切分固定预算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143000"/>
            <a:ext cx="5806440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3756"/>
                </a:solidFill>
              </a:defRPr>
            </a:pPr>
            <a:r>
              <a:t>5. 三臂结果：静态优先排序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52120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达到分数阈值：随机36、Ridge86、AI115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保留中区接触：随机91、Ridge119、AI107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联合达标：随机29、Ridge85、AI103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结论：AI在本次固定预算中排序收益较高，但仍需实验验证</a:t>
            </a:r>
          </a:p>
        </p:txBody>
      </p:sp>
      <p:pic>
        <p:nvPicPr>
          <p:cNvPr id="4" name="Picture 3" descr="F8_正式前瞻三臂固定预算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143000"/>
            <a:ext cx="5806440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3756"/>
                </a:solidFill>
              </a:defRPr>
            </a:pPr>
            <a:r>
              <a:t>6. 设计分子复核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52120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固定生成40条的技术QC、分数和中区联合结果为0/40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探索16条用于小样本代理比较，不替代主结果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位姿迁移和化学可实施性警示已保留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设计物结果只支持进一步复核优先级</a:t>
            </a:r>
          </a:p>
        </p:txBody>
      </p:sp>
      <p:pic>
        <p:nvPicPr>
          <p:cNvPr id="4" name="Picture 3" descr="F5_生成设计联合门槛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143000"/>
            <a:ext cx="5806440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3756"/>
                </a:solidFill>
              </a:defRPr>
            </a:pPr>
            <a:r>
              <a:t>7. 六个不同骨架候选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52120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LIB_YWDIXVZCRMMQQY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LIB_MYAFDHCCQBIZLC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LIB_ZNDXPRCORYDEAP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LIB_FCRHJSNRFAAYQD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LIB_DNDVGFIEWOHGAH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LIB_ZVHBDYFMHCQADD</a:t>
            </a:r>
          </a:p>
        </p:txBody>
      </p:sp>
      <p:pic>
        <p:nvPicPr>
          <p:cNvPr id="4" name="Picture 3" descr="六候选二维结构汇总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143000"/>
            <a:ext cx="5806440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3756"/>
                </a:solidFill>
              </a:defRPr>
            </a:pPr>
            <a:r>
              <a:t>8. 四条件独立确认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52120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ALL seed28/29、M_PUB_CORE seed27、H_AF seed27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24/24独立QC通过；24/24分数达标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22/24保留中区接触；0项荷电警示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两个候选出现盒边界负裕度并缺少中区接触，需谨慎解释</a:t>
            </a:r>
          </a:p>
        </p:txBody>
      </p:sp>
      <p:pic>
        <p:nvPicPr>
          <p:cNvPr id="4" name="Picture 3" descr="六候选真实姿势口袋分面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143000"/>
            <a:ext cx="5806440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3756"/>
                </a:solidFill>
              </a:defRPr>
            </a:pPr>
            <a:r>
              <a:t>9. 结构代理的解释方式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52120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盒边界、受体距离和中区接触用于质量控制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跨种子位姿迁移提示结构不确定性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静态几何证据不能换算Ki、Kd、EC50或IC50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候选表保留每个条件的原始指标</a:t>
            </a:r>
          </a:p>
        </p:txBody>
      </p:sp>
      <p:pic>
        <p:nvPicPr>
          <p:cNvPr id="4" name="Picture 3" descr="F7_亲本设计物位姿迁移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143000"/>
            <a:ext cx="5806440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3756"/>
                </a:solidFill>
              </a:defRPr>
            </a:pPr>
            <a:r>
              <a:t>10. 实验接入方案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52120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TMC1/TMC2对照体系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浓度梯度、机械刺激电流、洗脱和基础通道功能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记录细胞状态、重复数、阴性/阳性对照和统计方法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当前交付包不宣称湿实验已经完成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3756"/>
                </a:solidFill>
              </a:defRPr>
            </a:pPr>
            <a:r>
              <a:t>11. 可复现交付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52120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README、入口、依赖与许可说明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results.csv、候选结构、日志、图件来源和SHA256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摘要、评审表、PPT、讲稿使用同一组编号和数字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正式签名、录音和官网回执由团队补齐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3756"/>
                </a:solidFill>
              </a:defRPr>
            </a:pPr>
            <a:r>
              <a:t>12. 结论与下一步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52120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本轮完成的是计算候选优先排序与独立质量控制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AI结果有条件地支持候选优先级，不能直接称为药效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下一步：完成真实功能验证与TMC1/TMC2反筛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最终提交需保留预测、计算和实测证据边界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052"/>
                </a:solidFill>
              </a:defRPr>
            </a:pPr>
            <a:r>
              <a:t>补充证据｜三物种结构来源与模型边界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50392"/>
            <a:ext cx="11155680" cy="54864"/>
          </a:xfrm>
          <a:prstGeom prst="rect">
            <a:avLst/>
          </a:prstGeom>
          <a:solidFill>
            <a:srgbClr val="377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C1_三物种同一性比对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78992"/>
            <a:ext cx="7726679" cy="334822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458200" y="1078992"/>
            <a:ext cx="3200400" cy="5074920"/>
          </a:xfrm>
          <a:prstGeom prst="roundRect">
            <a:avLst/>
          </a:prstGeom>
          <a:solidFill>
            <a:srgbClr val="EFF6FC"/>
          </a:solidFill>
          <a:ln>
            <a:solidFill>
              <a:srgbClr val="B4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1325880"/>
            <a:ext cx="27432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184E78"/>
                </a:solidFill>
              </a:defRPr>
            </a:pPr>
            <a:r>
              <a:t>主筛选受体</a:t>
            </a:r>
          </a:p>
          <a:p>
            <a:pPr>
              <a:spcAft>
                <a:spcPts val="1000"/>
              </a:spcAft>
              <a:defRPr sz="1200">
                <a:solidFill>
                  <a:srgbClr val="2E3A46"/>
                </a:solidFill>
              </a:defRPr>
            </a:pPr>
            <a:r>
              <a:t>小鼠 TMC1-CIB2-TMIE 三元复合物 M_PUB_ALL</a:t>
            </a:r>
          </a:p>
          <a:p>
            <a:pPr>
              <a:spcAft>
                <a:spcPts val="200"/>
              </a:spcAft>
              <a:defRPr sz="1500" b="1">
                <a:solidFill>
                  <a:srgbClr val="184E78"/>
                </a:solidFill>
              </a:defRPr>
            </a:pPr>
            <a:r>
              <a:t>交叉验证</a:t>
            </a:r>
          </a:p>
          <a:p>
            <a:pPr>
              <a:spcAft>
                <a:spcPts val="1000"/>
              </a:spcAft>
              <a:defRPr sz="1200">
                <a:solidFill>
                  <a:srgbClr val="2E3A46"/>
                </a:solidFill>
              </a:defRPr>
            </a:pPr>
            <a:r>
              <a:t>人源 AlphaFold 模型</a:t>
            </a:r>
          </a:p>
          <a:p>
            <a:pPr>
              <a:spcAft>
                <a:spcPts val="200"/>
              </a:spcAft>
              <a:defRPr sz="1500" b="1">
                <a:solidFill>
                  <a:srgbClr val="184E78"/>
                </a:solidFill>
              </a:defRPr>
            </a:pPr>
            <a:r>
              <a:t>公开结构模板</a:t>
            </a:r>
          </a:p>
          <a:p>
            <a:pPr>
              <a:spcAft>
                <a:spcPts val="1000"/>
              </a:spcAft>
              <a:defRPr sz="1200">
                <a:solidFill>
                  <a:srgbClr val="2E3A46"/>
                </a:solidFill>
              </a:defRPr>
            </a:pPr>
            <a:r>
              <a:t>线虫 TMC-1 7USW 7USX 7USY</a:t>
            </a:r>
          </a:p>
          <a:p>
            <a:pPr>
              <a:spcAft>
                <a:spcPts val="200"/>
              </a:spcAft>
              <a:defRPr sz="1500" b="1">
                <a:solidFill>
                  <a:srgbClr val="184E78"/>
                </a:solidFill>
              </a:defRPr>
            </a:pPr>
            <a:r>
              <a:t>证据边界</a:t>
            </a:r>
          </a:p>
          <a:p>
            <a:pPr>
              <a:spcAft>
                <a:spcPts val="1000"/>
              </a:spcAft>
              <a:defRPr sz="1200">
                <a:solidFill>
                  <a:srgbClr val="2E3A46"/>
                </a:solidFill>
              </a:defRPr>
            </a:pPr>
            <a:r>
              <a:t>线虫结构用于折叠和构象参考，不直接代替人源受体进行药物对接</a:t>
            </a:r>
          </a:p>
          <a:p>
            <a:pPr>
              <a:spcAft>
                <a:spcPts val="200"/>
              </a:spcAft>
              <a:defRPr sz="1500" b="1">
                <a:solidFill>
                  <a:srgbClr val="184E78"/>
                </a:solidFill>
              </a:defRPr>
            </a:pPr>
            <a:r>
              <a:t>结果边界</a:t>
            </a:r>
          </a:p>
          <a:p>
            <a:pPr>
              <a:spcAft>
                <a:spcPts val="1000"/>
              </a:spcAft>
              <a:defRPr sz="1200">
                <a:solidFill>
                  <a:srgbClr val="2E3A46"/>
                </a:solidFill>
              </a:defRPr>
            </a:pPr>
            <a:r>
              <a:t>静态对接和排序属于计算预测，仍需功能实验验证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35508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46E"/>
                </a:solidFill>
              </a:defRPr>
            </a:pPr>
            <a:r>
              <a:t>来源：RCSB PDB 7USW/7USX/7USY（Nature 2022）；项目 M_PUB_CORE/M_PUB_ALL 文件与 SHA256 清单见修订包。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revision>1</cp:revision>
  <dcterms:created xsi:type="dcterms:W3CDTF">2013-01-27T09:14:16Z</dcterms:created>
  <dcterms:modified xsi:type="dcterms:W3CDTF">2013-01-27T09:15:58Z</dcterms:modified>
  <cp:category/>
</cp:coreProperties>
</file>